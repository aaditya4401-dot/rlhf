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8288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Self-Improving AI for HR Policy Q&amp;A</a:t>
            </a:r>
          </a:p>
          <a:p>
            <a:pPr>
              <a:defRPr sz="2800">
                <a:solidFill>
                  <a:srgbClr val="2E86C1"/>
                </a:solidFill>
              </a:defRPr>
            </a:pPr>
            <a:r>
              <a:t>LoRA SFT + DPO Fine-Tuning on Mistral 7B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AABBCC"/>
                </a:solidFill>
              </a:defRPr>
            </a:pPr>
            <a:r>
              <a:t>POC Results &amp; Evaluation Report</a:t>
            </a:r>
          </a:p>
          <a:p/>
          <a:p>
            <a:pPr>
              <a:defRPr sz="1600">
                <a:solidFill>
                  <a:srgbClr val="8899AA"/>
                </a:solidFill>
              </a:defRPr>
            </a:pPr>
            <a:r>
              <a:t>198 Test Prompts  |  3 Models  |  ROUGE-L + LLM Judge Evaluation</a:t>
            </a:r>
          </a:p>
          <a:p>
            <a:pPr>
              <a:defRPr sz="1600">
                <a:solidFill>
                  <a:srgbClr val="8899AA"/>
                </a:solidFill>
              </a:defRPr>
            </a:pPr>
            <a:r>
              <a:t>Kaggle Free GPU Tier  |  Mistral 7B  |  4-bit QLoRA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2C3E50"/>
                </a:solidFill>
              </a:defRPr>
            </a:pPr>
            <a:r>
              <a:t>The Challenge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Generic LLMs give textbook answers citing US federal law (FLSA, ADA)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They don't know company-specific HR policies, handbooks, or internal processes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Responses are verbose, generic, and often irrelevant to the actual policy</a:t>
            </a:r>
          </a:p>
          <a:p>
            <a:pPr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C3E50"/>
                </a:solidFill>
              </a:defRPr>
            </a:pPr>
            <a:r>
              <a:t>Our Goal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Fine-tune Mistral 7B to answer HR questions using actual company policies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Use RLHF pipeline: LoRA SFT (domain adaptation) + DPO (preference alignment)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Run everything on Kaggle's free GPU tier (30 hrs/week budget)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Produce concise, policy-grounded answers instead of generic advice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01168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RAG System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(GPT-4o + ChromaDB)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828800"/>
            <a:ext cx="201168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Preference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Collection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0" y="1828800"/>
            <a:ext cx="2011680" cy="10972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1: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LoRA SFT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828800"/>
            <a:ext cx="2011680" cy="10972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2: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828800"/>
            <a:ext cx="2011680" cy="10972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Evaluation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(ROUGE + Judge)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68880" y="2148840"/>
            <a:ext cx="457200" cy="45720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4937760" y="2148840"/>
            <a:ext cx="457200" cy="45720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406640" y="2148840"/>
            <a:ext cx="457200" cy="45720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9601200" y="2148840"/>
            <a:ext cx="457200" cy="45720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C3E50"/>
                </a:solidFill>
              </a:defRPr>
            </a:pPr>
            <a:r>
              <a:t>Local Machine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2C3E50"/>
                </a:solidFill>
              </a:defRPr>
            </a:pPr>
            <a:r>
              <a:t>533 HR policy documents + employee handbooks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2C3E50"/>
                </a:solidFill>
              </a:defRPr>
            </a:pPr>
            <a:r>
              <a:t>GPT-4o generates responses, judges preferences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2C3E50"/>
                </a:solidFill>
              </a:defRPr>
            </a:pPr>
            <a:r>
              <a:t>Creates chosen/rejected pairs for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4747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C3E50"/>
                </a:solidFill>
              </a:defRPr>
            </a:pPr>
            <a:r>
              <a:t>Kaggle GPU (P100, 16 GB)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2C3E50"/>
                </a:solidFill>
              </a:defRPr>
            </a:pPr>
            <a:r>
              <a:t>4-bit QLoRA quantization (~4 GB VRAM)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2C3E50"/>
                </a:solidFill>
              </a:defRPr>
            </a:pPr>
            <a:r>
              <a:t>SFT: 3 epochs, ~67 min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2C3E50"/>
                </a:solidFill>
              </a:defRPr>
            </a:pPr>
            <a:r>
              <a:t>DPO: 2 epochs, ~45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Training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Data Sources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533 HR policy documents (strova-ai/hr-policies-qa-dataset)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5,983 Q&amp;A pairs (xwjzds/extractive_qa_question_answering_hr)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Employee handbooks: GitLab (benefits, expenses, onboarding), Valve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Preference Collection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GPT-4o generates candidate responses via RAG pipeline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GPT-4o-mini judges and ranks response pairs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Output: (prompt, chosen, rejected) triples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645920"/>
          <a:ext cx="5029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429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Usage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SFT + DPO training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198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Held-out evaluation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80/20 split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Stage 1: LoRA Supervised Fine-Tuning (SFT)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5029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Base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Mistral 7B Instruct v0.2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Quantization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4-bit NF4 (QLoRA)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LoRA rank 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LoRA alpha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Target modules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q_proj, k_proj, v_proj, o_proj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4 (effective 16)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Learning rate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2e-4 (cosine)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paged_adamw_8bit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Results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Final training loss: 0.591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Training time: ~67 minutes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Adapter size: 27.3 MB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Trainable params: 13.6M / 7.26B (0.19%)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What SFT Learns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Domain vocabulary and HR-specific terminology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Concise response style matching reference answers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Policy-specific details (dates, procedures, contacts)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When to say 'refer to HR' vs providing direct answers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Stage 2: Direct Preference Optimization (DPO)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How DPO Works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Learns from preference pairs (chosen vs rejected)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Increases probability of preferred responses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Decreases probability of rejected responses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No separate reward model needed (unlike PPO)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Our Setup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Built on merged SFT model (merge LoRA into base weights)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Beta = 0.1 (KL penalty strength)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Learning rate: 5e-7, 2 epochs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Training time: ~45 minutes on Kaggle P100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What DPO Adds Beyond SFT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Preference alignment — learns what humans prefer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Better response structure and formatting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Zero hallucination instances (vs 11 for Base, 3 for SFT)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Balanced verbosity — not too short, not too long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DPO Model Loading (for inference)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1. Load base Mistral 7B (4-bit)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2. Load SFT adapter and merge into base weights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3. Load DPO adapter on top of merged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Evaluation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Models Evaluated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Base Mistral 7B — no fine-tuning (control)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After LoRA SFT — domain-adapted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After DPO — preference-aligned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Test Set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198 held-out HR prompts (20% of preference data)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Each prompt has a reference (chosen) answer from RAG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Topics: performance reviews, harassment, leave, privacy, etc.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Automated Metrics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ROUGE-1, ROUGE-2, ROUGE-L (text overlap with reference)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Word count analysis (verbosity vs reference)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Lexical diversity (unique word ratio)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Hallucination proxy (low ROUGE + high word count)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LLM-as-Judge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GPT-4o-mini as automated judge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3 pairwise comparisons x 198 prompts = 594 judgments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Criteria: helpfulness, accuracy, relevance, conciseness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ROUGE-L Results — Text Alignment with Reference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645920"/>
                <a:gridCol w="1645920"/>
              </a:tblGrid>
              <a:tr h="381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Base Mistral 7B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After LoRA SFT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After DPO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ROUGE-1 (mean)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0.445 (+50%)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0.345 (+17%)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ROUGE-2 (mean)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0.082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0.202 (+146%)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0.114 (+39%)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ROUGE-L (mean)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0.293 (+78%)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0.200 (+22%)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ROUGE-L (median)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0.157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0.249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0.187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ROUGE-L (std)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0.076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114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Per-Example ROUGE-L Wins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&gt; Base:  179/198 (90.4%)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DPO &gt; Base:  154/198 (77.8%)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&gt; DPO:   160/198 (80.8%)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Key Findings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achieves the highest ROUGE-L (0.293)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1.78x improvement over Base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DPO improves over Base (0.200 vs 0.164)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1.22x improvement, but below SFT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wins on 90.4% of individual examples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Responses most closely match reference text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Response Length &amp; Quality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7040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Reference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SFT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DPO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Word count (mean)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178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Length ratio vs ref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1.93x (verbose)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1.25x (close)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1.70x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Lexical diversity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0.693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0.654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Hallucination proxy*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11/198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3/198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0/198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114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C3E50"/>
                </a:solidFill>
              </a:defRPr>
            </a:pPr>
            <a:r>
              <a:t>* Hallucination proxy: ROUGE-L &lt; 0.1 AND word count &gt; 150</a:t>
            </a:r>
          </a:p>
          <a:p>
            <a:pPr>
              <a:spcAft>
                <a:spcPts val="600"/>
              </a:spcAft>
              <a:defRPr sz="1400" b="0">
                <a:solidFill>
                  <a:srgbClr val="2C3E50"/>
                </a:solidFill>
              </a:defRPr>
            </a:pPr>
            <a:r>
              <a:t>  (verbose but completely off-topic)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Key Findings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Base is most verbose (1.93x reference length)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is closest to reference length (1.25x)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DPO in between (1.70x)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 lvl="1"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DPO has ZERO hallucination instances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(vs 11 for Base, 3 for SFT)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has highest lexical diversity (0.693)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Closest to reference vocabulary usage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GPT-4o-mini Preference Win Rates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Comparison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 A Wins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 B Wins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Base vs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Base: 144 (72.7%)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SFT: 54 (27.3%)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SFT vs DPO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SFT: 74 (37.4%)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DPO: 124 (62.6%)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DPO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Base vs 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Base: 84 (42.4%)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DPO: 114 (57.6%)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DPO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DPO is the preference winner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Beats SFT with 62.6% win rate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Beats Base with 57.6% win rate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Judge evaluates: helpfulness, accuracy,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relevance, and conciseness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594 total judgments, 0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Why does judge prefer Base over SFT?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Verbosity bias — judge lacks policy context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Base writes 202 words of generic advice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SFT writes 131 words of correct policy answers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Without ground truth, judge rewards length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Known limitation (Zheng et al., 2023)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Two Metrics, Two Stories — Complementary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029200" cy="2286000"/>
          </a:xfrm>
          <a:prstGeom prst="roundRect">
            <a:avLst/>
          </a:prstGeom>
          <a:solidFill>
            <a:srgbClr val="EBF5FB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200" b="1">
                <a:solidFill>
                  <a:srgbClr val="2E86C1"/>
                </a:solidFill>
              </a:defRPr>
            </a:pPr>
            <a:r>
              <a:t>ROUGE-L says: SFT is best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Measures text overlap with reference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SFT: 0.293 vs DPO: 0.200 vs Base: 0.164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SFT wins 90.4% of per-example comparisons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Best for: factual alignment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029200" cy="2286000"/>
          </a:xfrm>
          <a:prstGeom prst="roundRect">
            <a:avLst/>
          </a:prstGeom>
          <a:solidFill>
            <a:srgbClr val="FDEDEC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200" b="1">
                <a:solidFill>
                  <a:srgbClr val="F39C12"/>
                </a:solidFill>
              </a:defRPr>
            </a:pPr>
            <a:r>
              <a:t>LLM Judge says: DPO is best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Evaluates helpfulness, quality, structure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DPO beats SFT (62.6%) and Base (57.6%)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Prefers well-structured, detailed answers</a:t>
            </a:r>
          </a:p>
          <a:p>
            <a:pPr>
              <a:defRPr sz="1600">
                <a:solidFill>
                  <a:srgbClr val="2C3E50"/>
                </a:solidFill>
              </a:defRPr>
            </a:pPr>
            <a:r>
              <a:t>  Best for: human preference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2C3E50"/>
                </a:solidFill>
              </a:defRPr>
            </a:pPr>
            <a:r>
              <a:t>The Insight: Both metrics are correct — they measure different things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SFT learned to reproduce policy content (domain knowledge) — high ROUGE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DPO learned what humans prefer (response quality) — high win rate</a:t>
            </a:r>
          </a:p>
          <a:p>
            <a:pPr lvl="1"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Together: Base → SFT (learn the domain) → DPO (learn preferences) = full RLHF pipeline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Qualitative Comparison —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2C3E50"/>
                </a:solidFill>
              </a:defRPr>
            </a:pPr>
            <a:r>
              <a:t>Prompt: "What is the company match percentage for the retirement plan?"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474720" cy="4114800"/>
          </a:xfrm>
          <a:prstGeom prst="roundRect">
            <a:avLst/>
          </a:prstGeom>
          <a:solidFill>
            <a:srgbClr val="FAFAFA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1600" b="1">
                <a:solidFill>
                  <a:srgbClr val="E74C3C"/>
                </a:solidFill>
              </a:defRPr>
            </a:pPr>
            <a:r>
              <a:t>Base (ROUGE-L: 0.146)</a:t>
            </a:r>
          </a:p>
          <a:p/>
          <a:p>
            <a:pPr>
              <a:defRPr sz="1200" i="1">
                <a:solidFill>
                  <a:srgbClr val="2C3E50"/>
                </a:solidFill>
              </a:defRPr>
            </a:pPr>
            <a:r>
              <a:t>"I'd be happy to help, but I'll need to clarify... this percentage can vary greatly from one company to another, and some companies..."</a:t>
            </a:r>
          </a:p>
          <a:p/>
          <a:p>
            <a:pPr>
              <a:defRPr sz="1400" b="1">
                <a:solidFill>
                  <a:srgbClr val="E74C3C"/>
                </a:solidFill>
              </a:defRPr>
            </a:pPr>
            <a:r>
              <a:t>Generic rambling, no useful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2011680"/>
            <a:ext cx="3474720" cy="4114800"/>
          </a:xfrm>
          <a:prstGeom prst="roundRect">
            <a:avLst/>
          </a:prstGeom>
          <a:solidFill>
            <a:srgbClr val="FAFAFA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t>SFT (ROUGE-L: 0.231)</a:t>
            </a:r>
          </a:p>
          <a:p/>
          <a:p>
            <a:pPr>
              <a:defRPr sz="1200" i="1">
                <a:solidFill>
                  <a:srgbClr val="2C3E50"/>
                </a:solidFill>
              </a:defRPr>
            </a:pPr>
            <a:r>
              <a:t>"I'd need to refer to the specific HR policy documents... Please let me know if you have access to that information."</a:t>
            </a:r>
          </a:p>
          <a:p/>
          <a:p>
            <a:pPr>
              <a:defRPr sz="1400" b="1">
                <a:solidFill>
                  <a:srgbClr val="27AE60"/>
                </a:solidFill>
              </a:defRPr>
            </a:pPr>
            <a:r>
              <a:t>Concise, appropriate redirect to HR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2011680"/>
            <a:ext cx="3474720" cy="4114800"/>
          </a:xfrm>
          <a:prstGeom prst="roundRect">
            <a:avLst/>
          </a:prstGeom>
          <a:solidFill>
            <a:srgbClr val="FAFAFA"/>
          </a:solidFill>
          <a:ln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1600" b="1">
                <a:solidFill>
                  <a:srgbClr val="3498DB"/>
                </a:solidFill>
              </a:defRPr>
            </a:pPr>
            <a:r>
              <a:t>DPO (ROUGE-L: 0.411)</a:t>
            </a:r>
          </a:p>
          <a:p/>
          <a:p>
            <a:pPr>
              <a:defRPr sz="1200" i="1">
                <a:solidFill>
                  <a:srgbClr val="2C3E50"/>
                </a:solidFill>
              </a:defRPr>
            </a:pPr>
            <a:r>
              <a:t>"Without specific context regarding the retirement plan, it is not possible to provide an answer. Please refer to your organization's HR policy documents or contact the HR department directly."</a:t>
            </a:r>
          </a:p>
          <a:p/>
          <a:p>
            <a:pPr>
              <a:defRPr sz="1400" b="1">
                <a:solidFill>
                  <a:srgbClr val="3498DB"/>
                </a:solidFill>
              </a:defRPr>
            </a:pPr>
            <a:r>
              <a:t>Best: clear acknowledgment + direct guidance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Compute Budget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000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RAG ingestion + preference 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Local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~30 min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SFT training (3 epochs, 123 steps)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Kaggle P100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~67 min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DPO training (2 epochs)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Kaggle 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~45 min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Evaluation (198 prompts x 3 models)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Kaggle P100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~45 min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Metrics + LLM judge (594 judgments)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Local + OpenAI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~18 min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Total GPU time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~2.5 hours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Kaggle weekly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30 hours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2C3E50"/>
                </a:solidFill>
              </a:defRPr>
            </a:pPr>
            <a:r>
              <a:t>Total GPU usage: ~8% of Kaggle's free weekly budget</a:t>
            </a:r>
          </a:p>
          <a:p>
            <a:pPr>
              <a:spcAft>
                <a:spcPts val="600"/>
              </a:spcAft>
              <a:defRPr sz="2000" b="0">
                <a:solidFill>
                  <a:srgbClr val="2C3E50"/>
                </a:solidFill>
              </a:defRPr>
            </a:pPr>
            <a:r>
              <a:t>Entire RLHF pipeline (SFT + DPO + eval) runs in a single session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371600"/>
            <a:ext cx="548640" cy="54864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32588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SFT successfully adapted Mistral 7B to HR domain</a:t>
            </a:r>
          </a:p>
          <a:p>
            <a:pPr>
              <a:defRPr sz="1600">
                <a:solidFill>
                  <a:srgbClr val="778899"/>
                </a:solidFill>
              </a:defRPr>
            </a:pPr>
            <a:r>
              <a:t>ROUGE-L: 0.164 → 0.293 (+78%), 35% shorter responses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33172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DPO improved preference quality</a:t>
            </a:r>
          </a:p>
          <a:p>
            <a:pPr>
              <a:defRPr sz="1600">
                <a:solidFill>
                  <a:srgbClr val="778899"/>
                </a:solidFill>
              </a:defRPr>
            </a:pPr>
            <a:r>
              <a:t>62.6% win rate vs SFT, 57.6% vs Base, zero hallucinations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Full RLHF pipeline works end-to-end</a:t>
            </a:r>
          </a:p>
          <a:p>
            <a:pPr>
              <a:defRPr sz="1600">
                <a:solidFill>
                  <a:srgbClr val="778899"/>
                </a:solidFill>
              </a:defRPr>
            </a:pPr>
            <a:r>
              <a:t>Base → SFT (learn domain) → DPO (learn preferences)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389120"/>
            <a:ext cx="548640" cy="54864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3434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Minimal compute required</a:t>
            </a:r>
          </a:p>
          <a:p>
            <a:pPr>
              <a:defRPr sz="1600">
                <a:solidFill>
                  <a:srgbClr val="778899"/>
                </a:solidFill>
              </a:defRPr>
            </a:pPr>
            <a:r>
              <a:t>~2.5 GPU hours total, fits in Kaggle free tier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34924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Two eval methods capture different dimensions</a:t>
            </a:r>
          </a:p>
          <a:p>
            <a:pPr>
              <a:defRPr sz="1600">
                <a:solidFill>
                  <a:srgbClr val="778899"/>
                </a:solidFill>
              </a:defRPr>
            </a:pPr>
            <a:r>
              <a:t>ROUGE-L: factual alignment | Judge: perceived quality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Future Work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Improve Training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Scale preference dataset to 5,000+ pairs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Try ORPO or SimPO as DPO alternatives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Experiment with larger LoRA rank (r=32 or r=64)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Multi-epoch DPO with curriculum learning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Better Evaluation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Reference-aware judging (give judge policy docs)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Human evaluation panel for final validation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Factual accuracy scoring against policy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Deployment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Deploy as API endpoint for HR chatbot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Integrate with company Slack/Teams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Add retrieval augmentation to fine-tuned model</a:t>
            </a:r>
          </a:p>
          <a:p>
            <a:pPr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C3E50"/>
                </a:solidFill>
              </a:defRPr>
            </a:pPr>
            <a:r>
              <a:t>Continuous Learning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Collect user feedback on deployed model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Periodic retraining with new preference data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A/B testing between model versions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2C3E50"/>
                </a:solidFill>
              </a:defRPr>
            </a:pPr>
            <a:r>
              <a:t>Expand to other domains beyond HR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